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[~0:30] Boas-vindas. "Hoje, na Aula 7, vamos falar de estruturas de dados em Python — as caixinhas onde guardamos a informação antes de analisar. Sou o Máximo, desenvolvedor de notebooks e dados. A aula vem com código ao vivo: a cada conceito eu mostro rodando." Aponte para o bloco aluno.py: "isso aqui já usa quase tudo que veremos hoje."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[~1:00] "Estrutura de dados é só uma forma de organizar a informação na memória. Pense em caixas com formatos diferentes: cada uma serve melhor para um tipo de conteúdo." Lado direito: "Em Ciência de Dados isso é o ponto de partida — antes de qualquer gráfico ou modelo, o dado precisa estar bem organizado. Bibliotecas como Pandas são construídas em cima dessas estruturas."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[~1:15] "A lista é a estrutura mais usada. É ordenada e mutável." MOSTRE NO CÓDIGO: crie notas, acesse notas[0] (reforce que começa em zero), faça append, remove e altere pelo índice. Rode o print. "Repare: a mesma lista mudou de tamanho e de conteúdo — por isso 'mutável'."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[~1:00] Tupla: "igual à lista, mas não pode ser alterada — use para dados fixos, como coordenadas ou um período." Tente alterar e mostre o erro, se quiser. Conjunto: "guarda só valores únicos." MOSTRE: o 'python' repetido some sozinho. Cite o uso real: tirar duplicados de uma coluna de dados.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[~1:15] "O dicionário é talvez o mais importante para dados: cada informação tem um nome (a chave)." MOSTRE: acessar por chave, inserir 'curso', atualizar 'idade', remover com del. "Em vez de lembrar posições, você pede pelo nome — fica muito mais legível." Conecte: "cada aluno do nosso dataset vai ser um dicionário."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[~1:30] "Agora juntamos tudo num dataset de verdade." MOSTRE montando a 'turma'. Destaque que cada estrutura aparece: a lista externa (a turma), o dicionário (cada aluno), a lista de notas e o conjunto de skills. "Esse formato — lista de dicionários — é exatamente o que vira uma tabela depois."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[~1:30] "Com o dataset pronto, analisamos." MOSTRE: o for percorre a turma; calculamos a média com sum()/len(). "O if/elif/else decide a situação." Por fim, o truque do gráfico: repetir um caractere int(media) vezes vira uma barra no terminal. Rode e mostre a saída — "olha o mini gráfico de barras, sem nenhuma biblioteca."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[~1:00] "Para não repetir código, embrulhamos a análise numa função." MOSTRE resumo_turma: ela calcula as médias, junta todas as skills com união de conjuntos (|) e devolve um dicionário-resumo. "Agora analiso qualquer turma chamando resumo_turma(turma) — reaproveitável."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[~0:45] Encerramento: "Vimos listas, tuplas, dicionários e conjuntos e usamos todos juntos num dataset real." Reforce os quatro pilares: organizar, limpar, analisar, apresentar. Feche: "Escolher a estrutura certa deixa o código mais limpo e a análise mais simples — é a fundação de toda a Ciência de Dados." Abra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114800" cy="411480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937760"/>
            <a:ext cx="3108960" cy="3108960"/>
          </a:xfrm>
          <a:prstGeom prst="ellipse">
            <a:avLst/>
          </a:prstGeom>
          <a:solidFill>
            <a:srgbClr val="16233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777240"/>
            <a:ext cx="86868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1783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AULA 07  ·  CIÊNCIA DE DADOS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21792" y="2148840"/>
            <a:ext cx="6583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Estruturas de Dados</a:t>
            </a:r>
            <a:endParaRPr lang="en-US" sz="4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 Python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658368" y="42245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Módulo: Fundamentos de Ciência de Dados e Linguagem Python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58368" y="5623560"/>
            <a:ext cx="54864" cy="777240"/>
          </a:xfrm>
          <a:prstGeom prst="rect">
            <a:avLst/>
          </a:prstGeom>
          <a:solidFill>
            <a:srgbClr val="FFD43B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5596128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Henrique Fortinho De Miranda Sá Neto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Desenvolvedor de Notebooks e Dados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635240" y="1783080"/>
            <a:ext cx="4069080" cy="32461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635240" y="1783080"/>
            <a:ext cx="4069080" cy="31089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99832" y="1892808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3" name="Shape 10"/>
          <p:cNvSpPr/>
          <p:nvPr/>
        </p:nvSpPr>
        <p:spPr>
          <a:xfrm>
            <a:off x="8001000" y="1892808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4" name="Shape 11"/>
          <p:cNvSpPr/>
          <p:nvPr/>
        </p:nvSpPr>
        <p:spPr>
          <a:xfrm>
            <a:off x="8202168" y="1892808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5" name="Text 12"/>
          <p:cNvSpPr/>
          <p:nvPr/>
        </p:nvSpPr>
        <p:spPr>
          <a:xfrm>
            <a:off x="8503920" y="178308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aluno.py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836408" y="2203704"/>
            <a:ext cx="3666744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aluno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{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"nome"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"Ana"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"idade"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"curso"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"Dados"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"notas"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8.5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7.0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9.0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"skills"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"python"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"sql"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FUNDAMENTOS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são e por que importam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4160520"/>
          </a:xfrm>
          <a:prstGeom prst="roundRect">
            <a:avLst>
              <a:gd name="adj" fmla="val 2637"/>
            </a:avLst>
          </a:prstGeom>
          <a:solidFill>
            <a:srgbClr val="1E293B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48840"/>
            <a:ext cx="777240" cy="777240"/>
          </a:xfrm>
          <a:prstGeom prst="ellipse">
            <a:avLst/>
          </a:prstGeom>
          <a:solidFill>
            <a:srgbClr val="0E2B2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31343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1945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são estruturas de dados?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14400" y="3246120"/>
            <a:ext cx="4617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Formas de organizar e guardar informação na memória do programa</a:t>
            </a:r>
            <a:endParaRPr lang="en-US" sz="14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tipo tem um propósito: ordenar, identificar, garantir unicidade</a:t>
            </a:r>
            <a:endParaRPr lang="en-US" sz="14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já traz as principais prontas: listas, tuplas, dicionários e conjuntos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309360" y="1783080"/>
            <a:ext cx="5349240" cy="4160520"/>
          </a:xfrm>
          <a:prstGeom prst="roundRect">
            <a:avLst>
              <a:gd name="adj" fmla="val 2637"/>
            </a:avLst>
          </a:prstGeom>
          <a:solidFill>
            <a:srgbClr val="1E293B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75120" y="2148840"/>
            <a:ext cx="777240" cy="777240"/>
          </a:xfrm>
          <a:prstGeom prst="ellipse">
            <a:avLst/>
          </a:prstGeom>
          <a:solidFill>
            <a:srgbClr val="11243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9712" y="2313432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35240" y="21945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Relação com Ciência de Dados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675120" y="3246120"/>
            <a:ext cx="4617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dado precisa ser organizado antes de ser analisado</a:t>
            </a:r>
            <a:endParaRPr lang="en-US" sz="14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estrutura certa facilita coletar, limpar e transformar os dados</a:t>
            </a:r>
            <a:endParaRPr lang="en-US" sz="14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base de ferramentas como Pandas e NumPy que você usará depois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COLEÇÃO ORDENADA E MUTÁVEL  ·  [ ]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Listas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Guardam vários itens em ordem, dentro de colchetes</a:t>
            </a:r>
            <a:endParaRPr lang="en-US" sz="155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pelo índice — começa no 0</a:t>
            </a:r>
            <a:endParaRPr lang="en-US" sz="155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append() adiciona um item no fim</a:t>
            </a:r>
            <a:endParaRPr lang="en-US" sz="155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remove() apaga um valor</a:t>
            </a:r>
            <a:endParaRPr lang="en-US" sz="155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Alteração direta: lista[i] = novo_valor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852160" y="1737360"/>
            <a:ext cx="5760720" cy="36118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852160" y="1737360"/>
            <a:ext cx="5760720" cy="31089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16752" y="1847088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0" y="1847088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6419088" y="1847088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73736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listas.py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053328" y="2157984"/>
            <a:ext cx="5358384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</a:t>
            </a:r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</a:t>
            </a:r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8.5</a:t>
            </a:r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7.0</a:t>
            </a:r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9.0</a:t>
            </a:r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</a:t>
            </a:r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           </a:t>
            </a:r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acessar  -&gt; 8.5</a:t>
            </a:r>
            <a:endParaRPr lang="en-US" sz="13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</a:t>
            </a:r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6.5</a:t>
            </a:r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</a:t>
            </a:r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adicionar no fim</a:t>
            </a:r>
            <a:endParaRPr lang="en-US" sz="13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</a:t>
            </a:r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</a:t>
            </a:r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7.0</a:t>
            </a:r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</a:t>
            </a:r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remover um valor</a:t>
            </a:r>
            <a:endParaRPr lang="en-US" sz="13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</a:t>
            </a:r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</a:t>
            </a:r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10.0</a:t>
            </a:r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alterar pelo índice</a:t>
            </a:r>
            <a:endParaRPr lang="en-US" sz="13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</a:t>
            </a:r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     </a:t>
            </a:r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[8.5, 10.0, 6.5]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852160" y="5532120"/>
            <a:ext cx="2331720" cy="384048"/>
          </a:xfrm>
          <a:prstGeom prst="rect">
            <a:avLst/>
          </a:prstGeom>
          <a:solidFill>
            <a:srgbClr val="FFD43B"/>
          </a:solidFill>
          <a:ln/>
        </p:spPr>
      </p:sp>
      <p:sp>
        <p:nvSpPr>
          <p:cNvPr id="13" name="Text 11"/>
          <p:cNvSpPr/>
          <p:nvPr/>
        </p:nvSpPr>
        <p:spPr>
          <a:xfrm>
            <a:off x="5852160" y="55321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 </a:t>
            </a:r>
            <a:pPr algn="ctr" indent="0" marL="0">
              <a:buNone/>
            </a:pPr>
            <a:r>
              <a:rPr lang="en-US" sz="1200" b="1" spc="100" kern="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MOSTRAR CÓDIGO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DADOS FIXOS  ·  VALORES ÚNICOS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Tuplas e Conjuntos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40080" cy="640080"/>
          </a:xfrm>
          <a:prstGeom prst="ellipse">
            <a:avLst/>
          </a:prstGeom>
          <a:solidFill>
            <a:srgbClr val="11243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911096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7830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Tuplas  ( )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566928" y="2606040"/>
            <a:ext cx="5349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Parecida com a lista, mas imutável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dados fixos que não devem mudar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48640" y="3657600"/>
            <a:ext cx="5349240" cy="18288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3657600"/>
            <a:ext cx="5349240" cy="31089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13232" y="3767328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8"/>
          <p:cNvSpPr/>
          <p:nvPr/>
        </p:nvSpPr>
        <p:spPr>
          <a:xfrm>
            <a:off x="914400" y="3767328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9"/>
          <p:cNvSpPr/>
          <p:nvPr/>
        </p:nvSpPr>
        <p:spPr>
          <a:xfrm>
            <a:off x="1115568" y="3767328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0"/>
          <p:cNvSpPr/>
          <p:nvPr/>
        </p:nvSpPr>
        <p:spPr>
          <a:xfrm>
            <a:off x="1417320" y="3657600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tuplas.py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49808" y="4078224"/>
            <a:ext cx="494690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ponto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(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    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imutável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periodo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(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"2025"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"S1"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periodo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            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-&gt; "2025"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309360" y="1783080"/>
            <a:ext cx="640080" cy="640080"/>
          </a:xfrm>
          <a:prstGeom prst="ellipse">
            <a:avLst/>
          </a:prstGeom>
          <a:solidFill>
            <a:srgbClr val="0E2B2A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7376" y="1911096"/>
            <a:ext cx="384048" cy="38404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086600" y="17830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Conjuntos  { }</a:t>
            </a:r>
            <a:endParaRPr lang="en-US" sz="2100" dirty="0"/>
          </a:p>
        </p:txBody>
      </p:sp>
      <p:sp>
        <p:nvSpPr>
          <p:cNvPr id="18" name="Text 14"/>
          <p:cNvSpPr/>
          <p:nvPr/>
        </p:nvSpPr>
        <p:spPr>
          <a:xfrm>
            <a:off x="6327648" y="2606040"/>
            <a:ext cx="5349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Guardam apenas valores únicos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Ótimos para remover repetições de um conjunto de dados</a:t>
            </a:r>
            <a:endParaRPr lang="en-US" sz="1450" dirty="0"/>
          </a:p>
        </p:txBody>
      </p:sp>
      <p:sp>
        <p:nvSpPr>
          <p:cNvPr id="19" name="Shape 15"/>
          <p:cNvSpPr/>
          <p:nvPr/>
        </p:nvSpPr>
        <p:spPr>
          <a:xfrm>
            <a:off x="6309360" y="3657600"/>
            <a:ext cx="5349240" cy="18288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309360" y="3657600"/>
            <a:ext cx="5349240" cy="31089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473952" y="3767328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2" name="Shape 18"/>
          <p:cNvSpPr/>
          <p:nvPr/>
        </p:nvSpPr>
        <p:spPr>
          <a:xfrm>
            <a:off x="6675120" y="3767328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3" name="Shape 19"/>
          <p:cNvSpPr/>
          <p:nvPr/>
        </p:nvSpPr>
        <p:spPr>
          <a:xfrm>
            <a:off x="6876288" y="3767328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4" name="Text 20"/>
          <p:cNvSpPr/>
          <p:nvPr/>
        </p:nvSpPr>
        <p:spPr>
          <a:xfrm>
            <a:off x="7178040" y="3657600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conjuntos.py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6510528" y="4078224"/>
            <a:ext cx="494690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{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"python"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"sql"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"python"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{'python', 'sql'}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"python"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-&gt; True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PARES CHAVE → VALOR  ·  { }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Dicionários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item tem uma chave e um valor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pela chave, não pelo índice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Inserir/atualizar: dic[chave] = valor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Remover: del dic[chave]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ideal para representar um registro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852160" y="1737360"/>
            <a:ext cx="5760720" cy="36118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852160" y="1737360"/>
            <a:ext cx="5760720" cy="31089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16752" y="1847088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0" y="1847088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6419088" y="1847088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73736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dicionarios.py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053328" y="2157984"/>
            <a:ext cx="5358384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aluno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{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"nome"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"Ana"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"idade"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aluno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"nome"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          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acessar -&gt; "Ana"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aluno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"curso"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"Dados"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inserir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aluno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"idade"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atualizar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aluno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"curso"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       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remover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aluno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{'nome': 'Ana', 'idade': 21}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852160" y="5532120"/>
            <a:ext cx="2331720" cy="384048"/>
          </a:xfrm>
          <a:prstGeom prst="rect">
            <a:avLst/>
          </a:prstGeom>
          <a:solidFill>
            <a:srgbClr val="FFD43B"/>
          </a:solidFill>
          <a:ln/>
        </p:spPr>
      </p:sp>
      <p:sp>
        <p:nvSpPr>
          <p:cNvPr id="13" name="Text 11"/>
          <p:cNvSpPr/>
          <p:nvPr/>
        </p:nvSpPr>
        <p:spPr>
          <a:xfrm>
            <a:off x="5852160" y="55321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 </a:t>
            </a:r>
            <a:pPr algn="ctr" indent="0" marL="0">
              <a:buNone/>
            </a:pPr>
            <a:r>
              <a:rPr lang="en-US" sz="1200" b="1" spc="100" kern="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MOSTRAR CÓDIGO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JUNTANDO TUDO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Exemplo prático: dataset de alunos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lista guarda todos os alunos</a:t>
            </a:r>
            <a:endParaRPr lang="en-US" sz="15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aluno é um dicionário</a:t>
            </a:r>
            <a:endParaRPr lang="en-US" sz="15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→ lista de números</a:t>
            </a:r>
            <a:endParaRPr lang="en-US" sz="15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→ conjunto (sem repetir)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297680" y="1737360"/>
            <a:ext cx="7315200" cy="42976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97680" y="1737360"/>
            <a:ext cx="7315200" cy="31089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62272" y="1847088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4663440" y="1847088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4864608" y="1847088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5166360" y="1737360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turma.py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498848" y="2157984"/>
            <a:ext cx="6912864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turma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"nome"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"Ana"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"idade"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"curso"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"Dados"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"notas"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8.5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7.0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9.0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"skills"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"python"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"sql"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}},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"nome"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"Bruno"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"idade"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"curso"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"Dados"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"notas"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5.0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6.5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4.0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"skills"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"excel"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}},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"nome"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"Carla"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"idade"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"curso"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"Dados"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"notas"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9.5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8.0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10.0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"skills"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"python"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"r"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}},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ANALISANDO OS DADOS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Média, situação e gráfico no terminal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583680" cy="42519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6583680" cy="31089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847088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847088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15568" y="1847088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417320" y="173736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analise.py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49808" y="2157984"/>
            <a:ext cx="6181344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aluno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turma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aluno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"notas"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/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&gt;=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situacao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"Aprovado"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&gt;=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situacao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"Recuperacao"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situacao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"Reprovado"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barra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"#"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aluno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"nome"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barra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situacao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406640" y="1737360"/>
            <a:ext cx="4206240" cy="2788920"/>
          </a:xfrm>
          <a:prstGeom prst="rect">
            <a:avLst/>
          </a:prstGeom>
          <a:solidFill>
            <a:srgbClr val="000000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58952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589520" y="2286000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   ########  8.2  Aprovado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Bruno #####     5.2  Recuperacao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Carla #########  9.2  Aprovado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06640" y="4754880"/>
            <a:ext cx="2331720" cy="384048"/>
          </a:xfrm>
          <a:prstGeom prst="rect">
            <a:avLst/>
          </a:prstGeom>
          <a:solidFill>
            <a:srgbClr val="FFD43B"/>
          </a:solidFill>
          <a:ln/>
        </p:spPr>
      </p:sp>
      <p:sp>
        <p:nvSpPr>
          <p:cNvPr id="15" name="Text 13"/>
          <p:cNvSpPr/>
          <p:nvPr/>
        </p:nvSpPr>
        <p:spPr>
          <a:xfrm>
            <a:off x="7406640" y="475488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 </a:t>
            </a:r>
            <a:pPr algn="ctr" indent="0" marL="0">
              <a:buNone/>
            </a:pPr>
            <a:r>
              <a:rPr lang="en-US" sz="1200" b="1" spc="100" kern="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MOSTRAR CÓDIGO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06640" y="53035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elif / else classifica cada média em uma situação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REAPROVEITANDO CÓDIGO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Função para resumir a turma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858000" cy="42976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6858000" cy="31089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847088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847088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15568" y="1847088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417320" y="1737360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resumo.py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49808" y="2157984"/>
            <a:ext cx="6455664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resumo_turma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turma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medias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"notas"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 /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"notas"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turma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turma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"skills"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"alunos"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turma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"media_geral"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medias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/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medias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"skills"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680960" y="1783080"/>
            <a:ext cx="3931920" cy="2651760"/>
          </a:xfrm>
          <a:prstGeom prst="roundRect">
            <a:avLst>
              <a:gd name="adj" fmla="val 3448"/>
            </a:avLst>
          </a:prstGeom>
          <a:solidFill>
            <a:srgbClr val="1E293B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955280" y="2011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a função devolve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955280" y="251460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Quantos alunos há na turma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média geral da turma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habilidades, sem repetir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80960" y="4663440"/>
            <a:ext cx="2331720" cy="384048"/>
          </a:xfrm>
          <a:prstGeom prst="rect">
            <a:avLst/>
          </a:prstGeom>
          <a:solidFill>
            <a:srgbClr val="FFD43B"/>
          </a:solidFill>
          <a:ln/>
        </p:spPr>
      </p:sp>
      <p:sp>
        <p:nvSpPr>
          <p:cNvPr id="15" name="Text 13"/>
          <p:cNvSpPr/>
          <p:nvPr/>
        </p:nvSpPr>
        <p:spPr>
          <a:xfrm>
            <a:off x="7680960" y="46634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 </a:t>
            </a:r>
            <a:pPr algn="ctr" indent="0" marL="0">
              <a:buNone/>
            </a:pPr>
            <a:r>
              <a:rPr lang="en-US" sz="1200" b="1" spc="100" kern="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MOSTRAR CÓDIGO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680960" y="52120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função = analisar qualquer turma com uma linha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280160"/>
            <a:ext cx="3657600" cy="3657600"/>
          </a:xfrm>
          <a:prstGeom prst="ellipse">
            <a:avLst/>
          </a:prstGeom>
          <a:solidFill>
            <a:srgbClr val="1623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CONCLUSÃO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Estruturas de dados são a base de tudo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97480" cy="3017520"/>
          </a:xfrm>
          <a:prstGeom prst="roundRect">
            <a:avLst>
              <a:gd name="adj" fmla="val 3390"/>
            </a:avLst>
          </a:prstGeom>
          <a:solidFill>
            <a:srgbClr val="1E293B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331720"/>
            <a:ext cx="868680" cy="868680"/>
          </a:xfrm>
          <a:prstGeom prst="ellipse">
            <a:avLst/>
          </a:prstGeom>
          <a:solidFill>
            <a:srgbClr val="2A241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542032"/>
            <a:ext cx="448056" cy="4480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Organizar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22960" y="379476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forma e estrutura à informação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3410712" y="1965960"/>
            <a:ext cx="2697480" cy="3017520"/>
          </a:xfrm>
          <a:prstGeom prst="roundRect">
            <a:avLst>
              <a:gd name="adj" fmla="val 3390"/>
            </a:avLst>
          </a:prstGeom>
          <a:solidFill>
            <a:srgbClr val="1E293B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730752" y="2331720"/>
            <a:ext cx="868680" cy="868680"/>
          </a:xfrm>
          <a:prstGeom prst="ellipse">
            <a:avLst/>
          </a:prstGeom>
          <a:solidFill>
            <a:srgbClr val="0E2B2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064" y="2542032"/>
            <a:ext cx="448056" cy="4480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85032" y="33375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Limpar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3685032" y="379476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repetições e corrigir dados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272784" y="1965960"/>
            <a:ext cx="2697480" cy="3017520"/>
          </a:xfrm>
          <a:prstGeom prst="roundRect">
            <a:avLst>
              <a:gd name="adj" fmla="val 3390"/>
            </a:avLst>
          </a:prstGeom>
          <a:solidFill>
            <a:srgbClr val="1E293B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592824" y="2331720"/>
            <a:ext cx="868680" cy="868680"/>
          </a:xfrm>
          <a:prstGeom prst="ellipse">
            <a:avLst/>
          </a:prstGeom>
          <a:solidFill>
            <a:srgbClr val="11243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136" y="2542032"/>
            <a:ext cx="448056" cy="4480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47104" y="33375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Analisar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6547104" y="379476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médias, filtrar, comparar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9134856" y="1965960"/>
            <a:ext cx="2697480" cy="3017520"/>
          </a:xfrm>
          <a:prstGeom prst="roundRect">
            <a:avLst>
              <a:gd name="adj" fmla="val 3390"/>
            </a:avLst>
          </a:prstGeom>
          <a:solidFill>
            <a:srgbClr val="1E293B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454896" y="2331720"/>
            <a:ext cx="868680" cy="868680"/>
          </a:xfrm>
          <a:prstGeom prst="ellipse">
            <a:avLst/>
          </a:prstGeom>
          <a:solidFill>
            <a:srgbClr val="1E183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5208" y="2542032"/>
            <a:ext cx="448056" cy="4480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409176" y="33375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Apresentar</a:t>
            </a:r>
            <a:endParaRPr lang="en-US" sz="1900" dirty="0"/>
          </a:p>
        </p:txBody>
      </p:sp>
      <p:sp>
        <p:nvSpPr>
          <p:cNvPr id="24" name="Text 18"/>
          <p:cNvSpPr/>
          <p:nvPr/>
        </p:nvSpPr>
        <p:spPr>
          <a:xfrm>
            <a:off x="9409176" y="379476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Resumir e mostrar resultados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548640" y="5440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estrutura certa = </a:t>
            </a:r>
            <a:pPr algn="ctr" indent="0" marL="0">
              <a:buNone/>
            </a:pPr>
            <a:r>
              <a:rPr lang="en-US" sz="18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mais limpo e análise mais simples.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7 — Estruturas de Dados em Python</dc:title>
  <dc:subject>PptxGenJS Presentation</dc:subject>
  <dc:creator>Máximo Henrique Fortinho De Miranda Sá Neto</dc:creator>
  <cp:lastModifiedBy>Máximo Henrique Fortinho De Miranda Sá Neto</cp:lastModifiedBy>
  <cp:revision>1</cp:revision>
  <dcterms:created xsi:type="dcterms:W3CDTF">2026-06-05T19:25:49Z</dcterms:created>
  <dcterms:modified xsi:type="dcterms:W3CDTF">2026-06-05T19:25:49Z</dcterms:modified>
</cp:coreProperties>
</file>